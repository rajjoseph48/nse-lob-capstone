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 — Sumanth G M (Intro &amp; Motivation).</a:t>
            </a:r>
          </a:p>
          <a:p>
            <a:r>
              <a:t>Welcome the panel; state the title and the one-line problem: predict short-horizon mid-price direction from LOB data. Hand off after Related Work to Joseph.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 — Sumanth G M.</a:t>
            </a:r>
          </a:p>
          <a:p>
            <a:r>
              <a:t>Motivation: LOB has microstructure signal; prior work is developed-markets/FI-2010 only; Indian index futures unstudied; no clean dataset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 — Sumanth G M.</a:t>
            </a:r>
          </a:p>
          <a:p>
            <a:r>
              <a:t>State the objectives and the two research questions (efficient SSM? do features help?). Keep crisp.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 — Sumanth G M.</a:t>
            </a:r>
          </a:p>
          <a:p>
            <a:r>
              <a:t>Related work in 4 names: FI-2010, DeepLOB, TLOB, Mamba/LOBCAST. Then: 'I'll hand over to Joseph for how we built our dataset.'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2 — Joseph Raj (Data Engineering &amp; Dataset). YOUR STRONGEST SLIDE.</a:t>
            </a:r>
          </a:p>
          <a:p>
            <a:r>
              <a:t>Reverse-engineered Dhan binary feed (1992B/664B), EC2-&gt;Parquet-&gt;S3 pipeline, front-month stitch. ~1.1M events. This is the core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2 — Joseph Raj.</a:t>
            </a:r>
          </a:p>
          <a:p>
            <a:r>
              <a:t>Datasets: FI-2010 spec + engineered NSE spec; first 10 levels = 40 features = FI-2010 layout -&gt; models transfer unchanged. Be upfront: ~0.4s snapshot cadence, not tick-level.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2 — Joseph Raj.</a:t>
            </a:r>
          </a:p>
          <a:p>
            <a:r>
              <a:t>EDA: Stationary class shrinks 19%-&gt;4% with horizon; spread ~3.3 bps; regular ~2.5Hz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2 — Joseph Raj.</a:t>
            </a:r>
          </a:p>
          <a:p>
            <a:r>
              <a:t>Preprocessing pipeline + labelling (alpha=1e-5) + engineered microstructure features. Hand to Abhishek for the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3 — Abhishek Kumar (Models &amp; Reproduction).</a:t>
            </a:r>
          </a:p>
          <a:p>
            <a:r>
              <a:t>Baselines (DeepLOB/MLPLOB/TLOB) + proposed MambaLOB (selective SSM, O(L)) + ConvMambaLOB. One contract for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3 — Abhishek Kumar.</a:t>
            </a:r>
          </a:p>
          <a:p>
            <a:r>
              <a:t>FI-2010 reproduction validates the pipeline: DeepLOB ~= paper, TLOB in SOTA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3 — Abhishek Kumar.</a:t>
            </a:r>
          </a:p>
          <a:p>
            <a:r>
              <a:t>NSE transfer: all beat baselines (signal exists); below FI-2010 (expected); TLOB leads; MambaLOB beats DeepLOB on NIFTY at 1/27 params. Hand to Raghav for Phase-2.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4 — R Raghav Srivatsav (Phase-2 DS contributions).</a:t>
            </a:r>
          </a:p>
          <a:p>
            <a:r>
              <a:t>Tier A: microstructure features give a SIGNIFICANT gain (+0.084 wF1, p=0.001).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4 — R Raghav Srivatsav.</a:t>
            </a:r>
          </a:p>
          <a:p>
            <a:r>
              <a:t>Tier B: ConvMambaLOB best of ours, ~90% of TLOB at 12.5x fewer params. Honest: efficiency trade-off, not accuracy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4 — R Raghav Srivatsav.</a:t>
            </a:r>
          </a:p>
          <a:p>
            <a:r>
              <a:t>Tier C rigour: multi-seed significance, calibration (ECE 0.041), HPO, class-imbalance. Features significant; ConvMamba gain not robust (we report it honestly). Hand to Kumar Swamy.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5 — Kumar Swamy C (Efficiency, Conclusion &amp; Q&amp;A).</a:t>
            </a:r>
          </a:p>
          <a:p>
            <a:r>
              <a:t>Efficiency: O(L) vs O(L^2); at L=800 ~31x faster, ~750x fewer params.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5 — Kumar Swamy C.</a:t>
            </a:r>
          </a:p>
          <a:p>
            <a:r>
              <a:t>Conclusion: dataset + efficient SSM + significant feature finding; honest framing. Future work: spread-relative labelling, cost-aware backtest, walk-forward.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5 — Kumar Swamy C.</a:t>
            </a:r>
          </a:p>
          <a:p>
            <a:r>
              <a:t>Thank the panel and open for questions. The whole team fields Q&amp;A — route each question to whoever owns that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4E79"/>
                </a:solidFill>
              </a:rPr>
              <a:t>Stock Market Index Direction Prediction
Using Limit Order Book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222222"/>
                </a:solidFill>
              </a:rPr>
              <a:t>MTech (Data Science &amp; AI) Capstone — Final Submission</a:t>
            </a:r>
          </a:p>
          <a:p>
            <a:pPr algn="ctr"/>
            <a:r>
              <a:rPr sz="1500">
                <a:solidFill>
                  <a:srgbClr val="666666"/>
                </a:solidFill>
              </a:rPr>
              <a:t>PES University, Bengaluru</a:t>
            </a:r>
          </a:p>
          <a:p>
            <a:pPr algn="ctr"/>
            <a:r>
              <a:rPr sz="1500">
                <a:solidFill>
                  <a:srgbClr val="666666"/>
                </a:solidFill>
              </a:rPr>
              <a:t/>
            </a:r>
          </a:p>
          <a:p>
            <a:pPr algn="ctr"/>
            <a:r>
              <a:rPr sz="1500">
                <a:solidFill>
                  <a:srgbClr val="666666"/>
                </a:solidFill>
              </a:rPr>
              <a:t>Joseph Raj · Sumanth G. M · Abhishek Kumar · Kumara Swamy C · R Raghav Srivatsav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Predict short-horizon mid-price direction from Limit Order Book (LOB) data — Down / Stationary / Up.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LOB carries a rich microstructural signal; deep models show small but real predictive power.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But research is concentrated on developed markets (NASDAQ, Nordic) and the FI-2010 benchmark.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– Indian index futures are highly liquid yet structurally distinct and almost entirely unstudied with modern LOB architectures.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No clean, ML-ready Indian index-futures LOB dataset existed — a data-engineering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Objectives &amp;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Engineer the first ML-ready NSE index-futures LOB dataset (NIFTY, BANKNIFTY).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Reproduce published baselines (DeepLOB, MLPLOB, TLOB) on FI-2010 and validate.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Introduce MambaLOB — a selective state-space model with linear-time O(L) scaling.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Quantify transfer from FI-2010 to NSE, honestly reporting degradation.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– RQ: Is a linear-time SSM competitive with the transformer at lower compute?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– RQ: Does microstructure feature engineering improve the Indian-market signal?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FI-2010 (Ntakaris et al., 2018) — first public LOB benchmark + protocol.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DeepLOB (Zhang et al., 2019) — CNN + Inception + LSTM; the 40-feature template.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MLPLOB / TLOB (Berti &amp; Kasneci, 2025) — dual-attention transformer, current SOTA.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S4 / Mamba (Gu et al.) — structured / selective state-space models, sub-quadratic.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LOBCAST (Prata et al., 2024) — benchmark study: models overfit FI-2010, drop on new data.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Microstructure priors: order-flow imbalance (Cont), micro-price (Stoikov).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Data Engineering — Building the NSE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66666"/>
                </a:solidFill>
              </a:rPr>
              <a:t>The most substantial part of the project: no dataset existed, so we built one end-to-end.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Reverse-engineered the undocumented Dhan 20-level binary depth feed (1992 B full / 664 B compact frames).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– Fixed non-obvious decode issues: bid-price byte offset, denormalised empty levels, int64 overflow.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Cloud collection: EC2 WebSocket collector → daily zstd Parquet → S3 (cron-scheduled, auto token refresh).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Front-month stitching across the May→June expiry roll; per-day segmentation.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Result: 21 trading days, ~1.1 M events per instrument (exceeds FI-2010's ~400 k scale).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FI-2010 (benchmark): 5 Nasdaq Nordic stocks, 10 days, 10 levels, pre-normalised; horizons k = 10/20/50/100.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NSE index futures (engineered): NIFTY &amp; BANKNIFTY 20-level depth via Dhan; 12 May – 12 June 2026.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– First 10 of 20 levels → 40-feature vector identical in layout to FI-2010 → models transfer unchanged.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– Stored cadence ≈ 0.4 s (~2.5 Hz) regular snapshots (honestly: not tick-by-tick).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Unique to Dhan: per-level order-count channel (absent from FI-2010 / Kite).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Exploratory Data Analysis (NSE)</a:t>
            </a:r>
          </a:p>
        </p:txBody>
      </p:sp>
      <p:pic>
        <p:nvPicPr>
          <p:cNvPr id="4" name="Picture 3" descr="eda_label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37096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Stationary class shrinks 19% → 4% as horizon k grows 10 → 100.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Long-horizon task is effectively binary (Down/Up).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Median relative spread ≈ 3.3 bps.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Regular ~0.4 s update cadence (CV ≈ 0.34).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Preprocessing &amp; Labelling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Reorder Dhan columns to interleaved FI-2010 layout [Pa, Va, Pb, Vb] × 10.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Clean crossed quotes and tick spikes; segment per trading day (no cross-day/contract windows).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Z-score using training statistics only; lazy 100-step sliding windows.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Labels (smoothed mid %-change): Up if r &gt; α, Down if r &lt; −α, else Stationary (fixed α = 1e-5).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Microstructure features engineered: OFI, micro-price, depth imbalance, relative spread, order 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Baselines (reproduced): DeepLOB (CNN+Inception+LSTM), MLPLOB (MLP+BiN), TLOB (dual-attention transformer).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MambaLOB (proposed): Linear → n selective state-space (Mamba) blocks → Bilinear Norm → FC(3).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– Input-dependent linear recurrence → O(L) time &amp; memory, params independent of sequence length.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ConvMambaLOB: DeepLOB convolutional spatial front-end → Mamba temporal core (replaces the LSTM).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All models share one (B, 100, 40) → 3-class contract for a fair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Results — FI-2010 Reproduction</a:t>
            </a:r>
          </a:p>
        </p:txBody>
      </p:sp>
      <p:pic>
        <p:nvPicPr>
          <p:cNvPr id="4" name="Picture 3" descr="fi2010_fig_macrof1_by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51723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DeepLOB weighted-F1 ≈ 82.5% — matches paper (~83.4%).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TLOB reaches the SOTA range (up to ~92.5%).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Ordering &amp; range match published + independent (LOBCAST) results.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Validates the pipeline before transfer to 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Results — NSE Transfer (Scheme A)</a:t>
            </a:r>
          </a:p>
        </p:txBody>
      </p:sp>
      <p:pic>
        <p:nvPicPr>
          <p:cNvPr id="4" name="Picture 3" descr="nse_fig_nse_wf1_by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2233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All models beat naive baselines → learnable signal exists.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Absolute scores below FI-2010 (expected, per LOBCAST).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TLOB leads throughout.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Key: MambaLOB (68k) beats DeepLOB (191k) on NIFTY — transfers better than on FI-2010.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Tier A — Microstructure Feature Engineering</a:t>
            </a:r>
          </a:p>
        </p:txBody>
      </p:sp>
      <p:pic>
        <p:nvPicPr>
          <p:cNvPr id="4" name="Picture 3" descr="feature_ablation_fig_featur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4881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Engineered 'micro' / 'all' feature sets beat raw LOB.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Gain grows with horizon (up to +0.068 wF1 at k=100).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Statistically significant: +0.084 wF1, p = 0.001 (multi-seed).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Order counts help only combined; deep levels add nothing.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Tier B — Improved Architectures</a:t>
            </a:r>
          </a:p>
        </p:txBody>
      </p:sp>
      <p:pic>
        <p:nvPicPr>
          <p:cNvPr id="4" name="Picture 3" descr="architecture_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4672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ConvMambaLOB = best of the proposed variants.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Recovers ~90% of TLOB's quality at 12.5× fewer parameters.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Bidirectionality / stacking give diminishing returns.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Honest: an efficiency trade-off, not an accuracy win.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Tier C — Statistical 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3-seed study with paired across-seed + per-sample significance tests.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Microstructure features: significant (p = 0.001). TLOB's accuracy lead: significant (p &lt; 0.001).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66666"/>
                </a:solidFill>
              </a:rPr>
              <a:t>– ConvMambaLOB gain over base: not robust across seeds (p = 0.25).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Hyperparameter optimisation (Optuna): tuned base MambaLOB (1 layer, d=32) matches the hybrid.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Probability calibration: already well-calibrated (ECE 0.041, T = 1.00).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Class imbalance: weighted cross-entropy a sound default; focal marginal at long horizons.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Efficiency — O(L) vs O(L²) Scaling</a:t>
            </a:r>
          </a:p>
        </p:txBody>
      </p:sp>
      <p:pic>
        <p:nvPicPr>
          <p:cNvPr id="4" name="Picture 3" descr="mamba_fig_scaling_tlob_vs_mam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23409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MambaLOB: parameters constant in L; memory/latency grow linearly.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TLOB attention grows quadratically.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At L = 800: MambaLOB ≈ 31× faster, ≈ 750× fewer parameters.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Basis of the architecture's efficiency claim.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Built the first ML-ready NSE index-futures LOB dataset via full reverse-engineering + cloud pipeline.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Reproduced baselines; introduced MambaLOB &amp; ConvMambaLOB; evaluated with multi-seed rigour.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Headline (honest): SSM models reach ~90% of transformer accuracy at 12–25× fewer parameters — efficiency, not an accuracy win.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Largest significant gain comes from microstructure feature engineering, not architecture.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</a:rPr>
              <a:t>• Future work: spread-relative labelling, cost-aware backtest, walk-forward across more months/instruments.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